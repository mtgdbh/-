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af8616592943d0" /><Relationship Type="http://schemas.openxmlformats.org/officeDocument/2006/relationships/extended-properties" Target="/docProps/app.xml" Id="Rbd43888c5f214e64" /><Relationship Type="http://schemas.openxmlformats.org/officeDocument/2006/relationships/officeDocument" Target="/ppt/presentation.xml" Id="R4e5c5a7d7ad54c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d0b050700544b5"/>
  </p:sldMasterIdLst>
  <p:notesMasterIdLst>
    <p:notesMasterId xmlns:r="http://schemas.openxmlformats.org/officeDocument/2006/relationships" r:id="R03885393c2ec45a4"/>
  </p:notesMasterIdLst>
  <p:sldIdLst>
    <p:sldId xmlns:r="http://schemas.openxmlformats.org/officeDocument/2006/relationships" id="256" r:id="Rd168fee7b4324f25"/>
    <p:sldId xmlns:r="http://schemas.openxmlformats.org/officeDocument/2006/relationships" id="257" r:id="R3d9f5c84a50f42e0"/>
    <p:sldId xmlns:r="http://schemas.openxmlformats.org/officeDocument/2006/relationships" id="258" r:id="R17859b6a0b7a400d"/>
    <p:sldId xmlns:r="http://schemas.openxmlformats.org/officeDocument/2006/relationships" id="259" r:id="R072be3314aa24d02"/>
    <p:sldId xmlns:r="http://schemas.openxmlformats.org/officeDocument/2006/relationships" id="260" r:id="R5cf0be4d35734854"/>
    <p:sldId xmlns:r="http://schemas.openxmlformats.org/officeDocument/2006/relationships" id="261" r:id="R526aa7f254464c2f"/>
    <p:sldId xmlns:r="http://schemas.openxmlformats.org/officeDocument/2006/relationships" id="262" r:id="R890f201158984f1f"/>
    <p:sldId xmlns:r="http://schemas.openxmlformats.org/officeDocument/2006/relationships" id="263" r:id="Rf2984a23940342da"/>
    <p:sldId xmlns:r="http://schemas.openxmlformats.org/officeDocument/2006/relationships" id="264" r:id="R7bdb3d138b4b44df"/>
    <p:sldId xmlns:r="http://schemas.openxmlformats.org/officeDocument/2006/relationships" id="265" r:id="Rb5fdb7e72cc14669"/>
    <p:sldId xmlns:r="http://schemas.openxmlformats.org/officeDocument/2006/relationships" id="266" r:id="R4b5672b5adc04fd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e2bd9b5ba84bd6" /><Relationship Type="http://schemas.openxmlformats.org/officeDocument/2006/relationships/slideMaster" Target="/ppt/slideMasters/slideMaster1.xml" Id="Rb0d0b050700544b5" /><Relationship Type="http://schemas.openxmlformats.org/officeDocument/2006/relationships/notesMaster" Target="/ppt/notesMasters/notesMaster1.xml" Id="R03885393c2ec45a4" /><Relationship Type="http://schemas.openxmlformats.org/officeDocument/2006/relationships/presProps" Target="/ppt/presProps.xml" Id="R58b9777f51cc4c23" /><Relationship Type="http://schemas.openxmlformats.org/officeDocument/2006/relationships/tableStyles" Target="/ppt/tableStyles.xml" Id="Rdafdf2e349894d67" /><Relationship Type="http://schemas.openxmlformats.org/officeDocument/2006/relationships/slide" Target="/ppt/slides/slide1.xml" Id="Rd168fee7b4324f25" /><Relationship Type="http://schemas.openxmlformats.org/officeDocument/2006/relationships/slide" Target="/ppt/slides/slide2.xml" Id="R3d9f5c84a50f42e0" /><Relationship Type="http://schemas.openxmlformats.org/officeDocument/2006/relationships/slide" Target="/ppt/slides/slide3.xml" Id="R17859b6a0b7a400d" /><Relationship Type="http://schemas.openxmlformats.org/officeDocument/2006/relationships/slide" Target="/ppt/slides/slide4.xml" Id="R072be3314aa24d02" /><Relationship Type="http://schemas.openxmlformats.org/officeDocument/2006/relationships/slide" Target="/ppt/slides/slide5.xml" Id="R5cf0be4d35734854" /><Relationship Type="http://schemas.openxmlformats.org/officeDocument/2006/relationships/slide" Target="/ppt/slides/slide6.xml" Id="R526aa7f254464c2f" /><Relationship Type="http://schemas.openxmlformats.org/officeDocument/2006/relationships/slide" Target="/ppt/slides/slide7.xml" Id="R890f201158984f1f" /><Relationship Type="http://schemas.openxmlformats.org/officeDocument/2006/relationships/slide" Target="/ppt/slides/slide8.xml" Id="Rf2984a23940342da" /><Relationship Type="http://schemas.openxmlformats.org/officeDocument/2006/relationships/slide" Target="/ppt/slides/slide9.xml" Id="R7bdb3d138b4b44df" /><Relationship Type="http://schemas.openxmlformats.org/officeDocument/2006/relationships/slide" Target="/ppt/slides/slide10.xml" Id="Rb5fdb7e72cc14669" /><Relationship Type="http://schemas.openxmlformats.org/officeDocument/2006/relationships/slide" Target="/ppt/slides/slide11.xml" Id="R4b5672b5adc04f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3c13a28a8e4c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78e558e88749ae" /><Relationship Type="http://schemas.openxmlformats.org/officeDocument/2006/relationships/notesMaster" Target="/ppt/notesMasters/notesMaster1.xml" Id="R6b046739960441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884d9d87194352" /><Relationship Type="http://schemas.openxmlformats.org/officeDocument/2006/relationships/notesMaster" Target="/ppt/notesMasters/notesMaster1.xml" Id="Rfcf5aa1b83a042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eeef9cf6b9458c" /><Relationship Type="http://schemas.openxmlformats.org/officeDocument/2006/relationships/notesMaster" Target="/ppt/notesMasters/notesMaster1.xml" Id="R794739c1ac404e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d7b91071f94b54" /><Relationship Type="http://schemas.openxmlformats.org/officeDocument/2006/relationships/notesMaster" Target="/ppt/notesMasters/notesMaster1.xml" Id="R5b58e1b3637d4f5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8e5604ad95142f4" /><Relationship Type="http://schemas.openxmlformats.org/officeDocument/2006/relationships/notesMaster" Target="/ppt/notesMasters/notesMaster1.xml" Id="R145455d0829c46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b37221ab3fe41be" /><Relationship Type="http://schemas.openxmlformats.org/officeDocument/2006/relationships/notesMaster" Target="/ppt/notesMasters/notesMaster1.xml" Id="Ref9901bdc85544a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aafc37356374196" /><Relationship Type="http://schemas.openxmlformats.org/officeDocument/2006/relationships/notesMaster" Target="/ppt/notesMasters/notesMaster1.xml" Id="R9dccaadc42ee482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303c6a3e09f4dfd" /><Relationship Type="http://schemas.openxmlformats.org/officeDocument/2006/relationships/notesMaster" Target="/ppt/notesMasters/notesMaster1.xml" Id="R29e22c762e65443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deffe643d094e46" /><Relationship Type="http://schemas.openxmlformats.org/officeDocument/2006/relationships/notesMaster" Target="/ppt/notesMasters/notesMaster1.xml" Id="Rc27466bb8c2e4bb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9836d70b96b4649" /><Relationship Type="http://schemas.openxmlformats.org/officeDocument/2006/relationships/notesMaster" Target="/ppt/notesMasters/notesMaster1.xml" Id="R1023b98214c8437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d7d5314ef8b47ee" /><Relationship Type="http://schemas.openxmlformats.org/officeDocument/2006/relationships/notesMaster" Target="/ppt/notesMasters/notesMaster1.xml" Id="Re076f89701c64c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开场：系统的核心不是给出一条看起来漂亮的曲线，而是把真实记录、证据关系和下一步行动连接起来。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项目代码与验收材料：D:/BIGCHUANG/-/FINAL_DELIVERY.md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把问题从“能不能回答”改成“能不能安全地支持一次行动”。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reports/national-award-task-matrix-20260821.md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强调安全顺序：数据质量和证据治理先于大模型调用。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D:/BIGCHUANG/-/elderly-health-rag/output/source_manifest.json</a:t>
            </a:r>
          </a:p>
          <a:p xmlns:a="http://schemas.openxmlformats.org/drawingml/2006/main">
            <a:r>
              <a:t>- D:/BIGCHUANG/-/server/src/ai/agent.js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曲线展示重点：真实时间戳、个人基线、预测带和拒绝原因。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D:/BIGCHUANG/-/reports/curve-model-evaluation-2026-08-20.md</a:t>
            </a:r>
          </a:p>
          <a:p xmlns:a="http://schemas.openxmlformats.org/drawingml/2006/main">
            <a:r>
              <a:t>- D:/BIGCHUANG/-/reports/curve-external-validation-protocol-20260821.md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风险模型的价值不是追求单一 AUC，而是告诉用户概率能否支持复测分层，并明确不适用人群。PPT 同时展示严格随机留出、CHARLS 波次时间审计和参与者独立敏感性分析；这些仍不是独立地区外部验证。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D:/BIGCHUANG/-/ml/reports/national-award-risk-evaluation-20260821.json</a:t>
            </a:r>
          </a:p>
          <a:p xmlns:a="http://schemas.openxmlformats.org/drawingml/2006/main">
            <a:r>
              <a:t>- D:/BIGCHUANG/-/reports/national-award-risk-temporal-evaluation-20260821.md</a:t>
            </a:r>
          </a:p>
          <a:p xmlns:a="http://schemas.openxmlformats.org/drawingml/2006/main">
            <a:r>
              <a:t>- D:/BIGCHUANG/-/reports/national-award-risk-temporal-disjoint-evaluation-20260821.md</a:t>
            </a:r>
          </a:p>
          <a:p xmlns:a="http://schemas.openxmlformats.org/drawingml/2006/main">
            <a:r>
              <a:t>- D:/BIGCHUANG/-/reports/risk-fairness-evaluation-2026-08-20.md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诚实呈现对照：GraphRAG 的核心提升是路径、上下文和可审计个性化，不把检索改进写成临床疗效。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D:/BIGCHUANG/-/reports/graphrag-method-comparison-20260821.md</a:t>
            </a:r>
          </a:p>
          <a:p xmlns:a="http://schemas.openxmlformats.org/drawingml/2006/main">
            <a:r>
              <a:t>- D:/BIGCHUANG/-/reports/graphrag-personalization-pairs-20260821.md</a:t>
            </a:r>
          </a:p>
          <a:p xmlns:a="http://schemas.openxmlformats.org/drawingml/2006/main">
            <a:r>
              <a:t>- D:/BIGCHUANG/-/reports/graphrag-source-gate-regression-20260821.json</a:t>
            </a:r>
          </a:p>
          <a:p xmlns:a="http://schemas.openxmlformats.org/drawingml/2006/main">
            <a:r>
              <a:t>- D:/BIGCHUANG/-/elderly-health-rag/output/source_manifest.json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这里要主动说明：AI 预审不是医生签字，真实医疗部署仍需持证人员确认。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D:/BIGCHUANG/-/reports/medical-pre-review-20260821.md</a:t>
            </a:r>
          </a:p>
          <a:p xmlns:a="http://schemas.openxmlformats.org/drawingml/2006/main">
            <a:r>
              <a:t>- D:/BIGCHUANG/-/reports/medical-gate-regression-20260821.json</a:t>
            </a:r>
          </a:p>
          <a:p xmlns:a="http://schemas.openxmlformats.org/drawingml/2006/main">
            <a:r>
              <a:t>- D:/BIGCHUANG/-/reports/graphrag-source-gate-regression-20260821.json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演示时用张奶奶账号走一遍：问最近血压 → 查看证据 → 创建复测 → 完成后回填。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D:/BIGCHUANG/-/FINAL_DELIVERY.md</a:t>
            </a:r>
          </a:p>
          <a:p xmlns:a="http://schemas.openxmlformats.org/drawingml/2006/main">
            <a:r>
              <a:t>- D:/BIGCHUANG/-/server/src/ai/agent.js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这一页把已完成与未完成分开，答辩时不把工程回归冒充临床证据。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D:/BIGCHUANG/-/reports/national-award-task-matrix-20260821.md</a:t>
            </a:r>
          </a:p>
          <a:p xmlns:a="http://schemas.openxmlformats.org/drawingml/2006/main">
            <a:r>
              <a:t>- D:/BIGCHUANG/-/reports/graphrag-internal-holdout-20260821.md</a:t>
            </a:r>
          </a:p>
          <a:p xmlns:a="http://schemas.openxmlformats.org/drawingml/2006/main">
            <a:r>
              <a:t>- D:/BIGCHUANG/-/reports/deepseek-runtime-audit-20260821.md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把技术路线落到可验收的外部证据，才能从功能展示升级为研究成果。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D:/BIGCHUANG/-/reports/national-award-task-matrix-20260821.md</a:t>
            </a:r>
          </a:p>
          <a:p xmlns:a="http://schemas.openxmlformats.org/drawingml/2006/main">
            <a:r>
              <a:t>- D:/BIGCHUANG/-/reports/human-evaluation-protocol-20260821.md</a:t>
            </a:r>
          </a:p>
          <a:p xmlns:a="http://schemas.openxmlformats.org/drawingml/2006/main">
            <a:r>
              <a:t>- D:/BIGCHUANG/-/reports/curve-external-validation-protocol-20260821.md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收束：邀请评委关注同一问题在不同老人数据下的证据路径和行动差异。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D:/BIGCHUANG/-/FINAL_DELIVERY.md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03d6bcc75b45c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dfcc9d846a4bb3" /><Relationship Type="http://schemas.openxmlformats.org/officeDocument/2006/relationships/slideLayout" Target="/ppt/slideLayouts/slideLayout1.xml" Id="R7c016e97adb342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016e97adb342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429cfcd7a44797" /><Relationship Type="http://schemas.openxmlformats.org/officeDocument/2006/relationships/notesSlide" Target="/ppt/notesSlides/notesSlide1.xml" Id="Ra2b49678a8f046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330ee1fb3546f9" /><Relationship Type="http://schemas.openxmlformats.org/officeDocument/2006/relationships/notesSlide" Target="/ppt/notesSlides/notesSlide2.xml" Id="Rb7e785bf746747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88170ec8974cb5" /><Relationship Type="http://schemas.openxmlformats.org/officeDocument/2006/relationships/notesSlide" Target="/ppt/notesSlides/notesSlide3.xml" Id="R803b34847b3b492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86b31e2684471b" /><Relationship Type="http://schemas.openxmlformats.org/officeDocument/2006/relationships/notesSlide" Target="/ppt/notesSlides/notesSlide4.xml" Id="Rd1ad26485fb04e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1c39f8fe3847cb" /><Relationship Type="http://schemas.openxmlformats.org/officeDocument/2006/relationships/notesSlide" Target="/ppt/notesSlides/notesSlide5.xml" Id="Rcbef90c9d48c457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910789701346ae" /><Relationship Type="http://schemas.openxmlformats.org/officeDocument/2006/relationships/notesSlide" Target="/ppt/notesSlides/notesSlide6.xml" Id="R1eb90e2e8c6247b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08118649c44ea5" /><Relationship Type="http://schemas.openxmlformats.org/officeDocument/2006/relationships/notesSlide" Target="/ppt/notesSlides/notesSlide7.xml" Id="Rdc97e05316974f2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4d239f7089457b" /><Relationship Type="http://schemas.openxmlformats.org/officeDocument/2006/relationships/notesSlide" Target="/ppt/notesSlides/notesSlide8.xml" Id="R41d81592b98f41a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f3b1d8ea194523" /><Relationship Type="http://schemas.openxmlformats.org/officeDocument/2006/relationships/notesSlide" Target="/ppt/notesSlides/notesSlide9.xml" Id="R9f5a5804d3c144d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7050cc7ef5427c" /><Relationship Type="http://schemas.openxmlformats.org/officeDocument/2006/relationships/notesSlide" Target="/ppt/notesSlides/notesSlide10.xml" Id="R0bd2c096bbd148c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0a8af7e32540bd" /><Relationship Type="http://schemas.openxmlformats.org/officeDocument/2006/relationships/notesSlide" Target="/ppt/notesSlides/notesSlide11.xml" Id="Reab520094c3e481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E667C2-F451-4663-AA88-A9360158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B333CC-8CB8-4E9E-868C-FFD8F114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952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1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7A3513-834B-4512-829A-090325D49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906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7A3E"/>
                </a:solidFill>
              </a:defRPr>
            </a:pPr>
            <a:r>
              <a:rPr sz="1200" b="1">
                <a:solidFill>
                  <a:srgbClr val="D77A3E"/>
                </a:solidFill>
              </a:rPr>
              <a:t>大创项目阶段性汇报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B671A0-2B92-4E2D-A5BB-5D79D876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81150"/>
            <a:ext cx="647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44362D"/>
                </a:solidFill>
              </a:defRPr>
            </a:pPr>
            <a:r>
              <a:rPr sz="3600" b="1">
                <a:solidFill>
                  <a:srgbClr val="44362D"/>
                </a:solidFill>
              </a:rPr>
              <a:t>让健康数据</a:t>
            </a:r>
          </a:p>
          <a:p xmlns:a="http://schemas.openxmlformats.org/drawingml/2006/main">
            <a:pPr algn="l">
              <a:defRPr sz="3600" b="1">
                <a:solidFill>
                  <a:srgbClr val="44362D"/>
                </a:solidFill>
              </a:defRPr>
            </a:pPr>
            <a:r>
              <a:rPr sz="3600" b="1">
                <a:solidFill>
                  <a:srgbClr val="44362D"/>
                </a:solidFill>
              </a:rPr>
              <a:t>变成老人听得懂的行动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D5A5FF-C3C6-4853-BF05-186F8B55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33750"/>
            <a:ext cx="676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806F61"/>
                </a:solidFill>
              </a:defRPr>
            </a:pPr>
            <a:r>
              <a:rPr sz="1650" b="0">
                <a:solidFill>
                  <a:srgbClr val="806F61"/>
                </a:solidFill>
              </a:rPr>
              <a:t>老年人健康管理智能体：Curve V2 × 疾病风险筛查 × GraphRAG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36B226-639A-4A7A-B1C0-E6741FF0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104900"/>
            <a:ext cx="2762250" cy="37147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9C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6B9F5B-383B-4A41-9B6B-C5BFA742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192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77A3E"/>
                </a:solidFill>
              </a:defRPr>
            </a:pPr>
            <a:r>
              <a:rPr sz="1350" b="1">
                <a:solidFill>
                  <a:srgbClr val="D77A3E"/>
                </a:solidFill>
              </a:rPr>
              <a:t>真实数据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8D672C-4981-422B-92F5-F4C42FA3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143125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D77A3E"/>
                </a:solidFill>
              </a:defRPr>
            </a:pPr>
            <a:r>
              <a:rPr sz="3150" b="1">
                <a:solidFill>
                  <a:srgbClr val="D77A3E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9EF520-4441-4284-AA4F-15BA114F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622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3C3"/>
                </a:solidFill>
              </a:defRPr>
            </a:pPr>
            <a:r>
              <a:rPr sz="1350" b="1">
                <a:solidFill>
                  <a:srgbClr val="4C83C3"/>
                </a:solidFill>
              </a:rPr>
              <a:t>证据图谱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3A8148-0B44-49E7-9A14-F78068ABA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86125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4C83C3"/>
                </a:solidFill>
              </a:defRPr>
            </a:pPr>
            <a:r>
              <a:rPr sz="3150" b="1">
                <a:solidFill>
                  <a:srgbClr val="4C83C3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F087C2-8A3C-47AA-8B89-73A4535C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052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B9274"/>
                </a:solidFill>
              </a:defRPr>
            </a:pPr>
            <a:r>
              <a:rPr sz="1350" b="1">
                <a:solidFill>
                  <a:srgbClr val="5B9274"/>
                </a:solidFill>
              </a:rPr>
              <a:t>可执行建议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DF31B6-FE0C-47D3-B63C-249D2C4C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531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06F61"/>
                </a:solidFill>
              </a:defRPr>
            </a:pPr>
            <a:r>
              <a:rPr sz="1125" b="0">
                <a:solidFill>
                  <a:srgbClr val="806F61"/>
                </a:solidFill>
              </a:rPr>
              <a:t>2026.08  ·  国奖冲刺版</a:t>
            </a:r>
          </a:p>
        </p:txBody>
      </p:sp>
    </p:spTree>
    <p:extLst>
      <p:ext uri="{BB962C8B-B14F-4D97-AF65-F5344CB8AC3E}">
        <p14:creationId xmlns:p14="http://schemas.microsoft.com/office/powerpoint/2010/main" val="5895858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F4B2B6-4680-4BD6-BC59-3771196D5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7A3E"/>
                </a:solidFill>
              </a:defRPr>
            </a:pPr>
            <a:r>
              <a:rPr sz="975" b="1">
                <a:solidFill>
                  <a:srgbClr val="D77A3E"/>
                </a:solidFill>
              </a:rPr>
              <a:t>01  为什么要做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D0441D-8489-47CC-9C58-3AE9E86A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4362D"/>
                </a:solidFill>
              </a:defRPr>
            </a:pPr>
            <a:r>
              <a:rPr sz="2700" b="1">
                <a:solidFill>
                  <a:srgbClr val="44362D"/>
                </a:solidFill>
              </a:rPr>
              <a:t>老人真正需要的不是“一个概率”，而是下一步怎么做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CE8659-4CEA-4337-9A95-48A72076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06F61"/>
                </a:solidFill>
              </a:defRPr>
            </a:pPr>
            <a:r>
              <a:rPr sz="1350" b="0">
                <a:solidFill>
                  <a:srgbClr val="806F61"/>
                </a:solidFill>
              </a:rPr>
              <a:t>现有健康应用常见三个断点：数据、证据和行动没有闭环。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00C5DF-91D5-4C30-A70D-3FBA4337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1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C9F91D-E519-4A34-ADB7-403D568C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30480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9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632A02-6A66-4B80-B100-12E9403F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7A3E"/>
                </a:solidFill>
              </a:defRPr>
            </a:pPr>
            <a:r>
              <a:rPr sz="1725" b="1">
                <a:solidFill>
                  <a:srgbClr val="D77A3E"/>
                </a:solidFill>
              </a:rPr>
              <a:t>数据断点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2F288C-A0C6-498E-8199-4127F6FF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43250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4362D"/>
                </a:solidFill>
              </a:defRPr>
            </a:pPr>
            <a:r>
              <a:rPr sz="1425" b="0">
                <a:solidFill>
                  <a:srgbClr val="44362D"/>
                </a:solidFill>
              </a:rPr>
              <a:t>单次测量被当成结论</a:t>
            </a:r>
          </a:p>
          <a:p xmlns:a="http://schemas.openxmlformats.org/drawingml/2006/main">
            <a:pPr algn="l">
              <a:defRPr sz="1425" b="0">
                <a:solidFill>
                  <a:srgbClr val="44362D"/>
                </a:solidFill>
              </a:defRPr>
            </a:pPr>
            <a:r>
              <a:rPr sz="1425" b="0">
                <a:solidFill>
                  <a:srgbClr val="44362D"/>
                </a:solidFill>
              </a:rPr>
              <a:t>步数等行为指标被过度预测</a:t>
            </a:r>
          </a:p>
          <a:p xmlns:a="http://schemas.openxmlformats.org/drawingml/2006/main">
            <a:pPr algn="l">
              <a:defRPr sz="1425" b="0">
                <a:solidFill>
                  <a:srgbClr val="44362D"/>
                </a:solidFill>
              </a:defRPr>
            </a:pPr>
            <a:r>
              <a:rPr sz="1425" b="0">
                <a:solidFill>
                  <a:srgbClr val="44362D"/>
                </a:solidFill>
              </a:rPr>
              <a:t>缺测和异常点被隐藏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BB6AC2-FCC4-4505-A58F-5138EF40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86000"/>
            <a:ext cx="30480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9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F154DD-8BC0-4C0C-A9EC-7DC80D5A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71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C83C3"/>
                </a:solidFill>
              </a:defRPr>
            </a:pPr>
            <a:r>
              <a:rPr sz="1725" b="1">
                <a:solidFill>
                  <a:srgbClr val="4C83C3"/>
                </a:solidFill>
              </a:rPr>
              <a:t>证据断点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E2DC77-B02B-4D2C-B08F-76E11162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43250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4362D"/>
                </a:solidFill>
              </a:defRPr>
            </a:pPr>
            <a:r>
              <a:rPr sz="1425" b="0">
                <a:solidFill>
                  <a:srgbClr val="44362D"/>
                </a:solidFill>
              </a:rPr>
              <a:t>建议缺少适用人群</a:t>
            </a:r>
          </a:p>
          <a:p xmlns:a="http://schemas.openxmlformats.org/drawingml/2006/main">
            <a:pPr algn="l">
              <a:defRPr sz="1425" b="0">
                <a:solidFill>
                  <a:srgbClr val="44362D"/>
                </a:solidFill>
              </a:defRPr>
            </a:pPr>
            <a:r>
              <a:rPr sz="1425" b="0">
                <a:solidFill>
                  <a:srgbClr val="44362D"/>
                </a:solidFill>
              </a:rPr>
              <a:t>关系没有版本和审核状态</a:t>
            </a:r>
          </a:p>
          <a:p xmlns:a="http://schemas.openxmlformats.org/drawingml/2006/main">
            <a:pPr algn="l">
              <a:defRPr sz="1425" b="0">
                <a:solidFill>
                  <a:srgbClr val="44362D"/>
                </a:solidFill>
              </a:defRPr>
            </a:pPr>
            <a:r>
              <a:rPr sz="1425" b="0">
                <a:solidFill>
                  <a:srgbClr val="44362D"/>
                </a:solidFill>
              </a:rPr>
              <a:t>大模型可能把相关说成因果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0EA562-FF8C-421B-B8F4-8F1FD0856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86000"/>
            <a:ext cx="30480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9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A7727E-48FE-4F75-ADA4-07114CAD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71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B9274"/>
                </a:solidFill>
              </a:defRPr>
            </a:pPr>
            <a:r>
              <a:rPr sz="1725" b="1">
                <a:solidFill>
                  <a:srgbClr val="5B9274"/>
                </a:solidFill>
              </a:rPr>
              <a:t>行动断点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327950-8163-466E-A64B-663CF4EB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143250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4362D"/>
                </a:solidFill>
              </a:defRPr>
            </a:pPr>
            <a:r>
              <a:rPr sz="1425" b="0">
                <a:solidFill>
                  <a:srgbClr val="44362D"/>
                </a:solidFill>
              </a:rPr>
              <a:t>知道异常，却不知道何时复测</a:t>
            </a:r>
          </a:p>
          <a:p xmlns:a="http://schemas.openxmlformats.org/drawingml/2006/main">
            <a:pPr algn="l">
              <a:defRPr sz="1425" b="0">
                <a:solidFill>
                  <a:srgbClr val="44362D"/>
                </a:solidFill>
              </a:defRPr>
            </a:pPr>
            <a:r>
              <a:rPr sz="1425" b="0">
                <a:solidFill>
                  <a:srgbClr val="44362D"/>
                </a:solidFill>
              </a:rPr>
              <a:t>提醒不能转成待办</a:t>
            </a:r>
          </a:p>
          <a:p xmlns:a="http://schemas.openxmlformats.org/drawingml/2006/main">
            <a:pPr algn="l">
              <a:defRPr sz="1425" b="0">
                <a:solidFill>
                  <a:srgbClr val="44362D"/>
                </a:solidFill>
              </a:defRPr>
            </a:pPr>
            <a:r>
              <a:rPr sz="1425" b="0">
                <a:solidFill>
                  <a:srgbClr val="44362D"/>
                </a:solidFill>
              </a:rPr>
              <a:t>家属和医生无法按授权协同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D9A882-B373-4B4E-AAB6-4923A774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06F61"/>
                </a:solidFill>
              </a:defRPr>
            </a:pPr>
            <a:r>
              <a:rPr sz="825" b="0">
                <a:solidFill>
                  <a:srgbClr val="806F61"/>
                </a:solidFill>
              </a:rPr>
              <a:t>老年人健康管理智能体  ·  02</a:t>
            </a:r>
          </a:p>
        </p:txBody>
      </p:sp>
    </p:spTree>
    <p:extLst>
      <p:ext uri="{BB962C8B-B14F-4D97-AF65-F5344CB8AC3E}">
        <p14:creationId xmlns:p14="http://schemas.microsoft.com/office/powerpoint/2010/main" val="8304590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7C5DD6-2183-4DD2-9DAD-AF42F57D0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7A3E"/>
                </a:solidFill>
              </a:defRPr>
            </a:pPr>
            <a:r>
              <a:rPr sz="975" b="1">
                <a:solidFill>
                  <a:srgbClr val="D77A3E"/>
                </a:solidFill>
              </a:rPr>
              <a:t>02  总体方案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D4211D-FBB5-44D6-A681-0DBE71FF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4362D"/>
                </a:solidFill>
              </a:defRPr>
            </a:pPr>
            <a:r>
              <a:rPr sz="2700" b="1">
                <a:solidFill>
                  <a:srgbClr val="44362D"/>
                </a:solidFill>
              </a:rPr>
              <a:t>先把证据和安全门槛固定，再让大模型组织语言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062700-837F-4C3D-87CE-177AE52B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06F61"/>
                </a:solidFill>
              </a:defRPr>
            </a:pPr>
            <a:r>
              <a:rPr sz="1350" b="0">
                <a:solidFill>
                  <a:srgbClr val="806F61"/>
                </a:solidFill>
              </a:rPr>
              <a:t>模型负责估计，GraphRAG 负责证据与关系，DeepSeek 不能创造数据。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05FB61-748E-4585-9E0F-E7106A1AB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1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DF5A2B-9DAB-4985-B253-6F1282EBB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381250"/>
            <a:ext cx="8191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CE9D8"/>
          </a:solidFill>
          <a:ln xmlns:a="http://schemas.openxmlformats.org/drawingml/2006/main" w="9525">
            <a:solidFill>
              <a:srgbClr val="E4D9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C82293-2B1A-4543-B5BB-786E8D89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5270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3A15D"/>
                </a:solidFill>
              </a:defRPr>
            </a:pPr>
            <a:r>
              <a:rPr sz="1725" b="1">
                <a:solidFill>
                  <a:srgbClr val="F3A15D"/>
                </a:solidFill>
              </a:rPr>
              <a:t>老人 / 设备 / 手工记录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E3BBA9-BD73-4E7D-B04A-B39E4DD34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0194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806F61"/>
                </a:solidFill>
              </a:defRPr>
            </a:pPr>
            <a:r>
              <a:rPr sz="1800" b="1">
                <a:solidFill>
                  <a:srgbClr val="806F61"/>
                </a:solidFill>
              </a:rPr>
              <a:t>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06D7BA-0104-4D6D-95BE-4F841C9D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57550"/>
            <a:ext cx="8191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9F1FB"/>
          </a:solidFill>
          <a:ln xmlns:a="http://schemas.openxmlformats.org/drawingml/2006/main" w="9525">
            <a:solidFill>
              <a:srgbClr val="E4D9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B5EE3F-0921-4D29-A57E-2D5DEA46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2900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4C83C3"/>
                </a:solidFill>
              </a:defRPr>
            </a:pPr>
            <a:r>
              <a:rPr sz="1725" b="1">
                <a:solidFill>
                  <a:srgbClr val="4C83C3"/>
                </a:solidFill>
              </a:rPr>
              <a:t>Curve V2 + 风险模型 + GraphRAG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E2257D-F302-4496-A92C-CF71200B8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8957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806F61"/>
                </a:solidFill>
              </a:defRPr>
            </a:pPr>
            <a:r>
              <a:rPr sz="1800" b="1">
                <a:solidFill>
                  <a:srgbClr val="806F61"/>
                </a:solidFill>
              </a:rPr>
              <a:t>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6E9344-DF20-4594-B42E-0E6FDE74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33850"/>
            <a:ext cx="8191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E4D9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B6F127-1B8F-414E-B908-A796ADF4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0530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5B9274"/>
                </a:solidFill>
              </a:defRPr>
            </a:pPr>
            <a:r>
              <a:rPr sz="1725" b="1">
                <a:solidFill>
                  <a:srgbClr val="5B9274"/>
                </a:solidFill>
              </a:rPr>
              <a:t>安全门槛 → DeepSeek → 证据卡片与行动闭环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CDA93C-E38E-4A2D-9F4E-8F0CE8C9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809750"/>
            <a:ext cx="17145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3A1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70C269-55E6-42E3-B83A-8E3AFC31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85737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证据先于生成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17A9F5-6506-42C7-89FE-B049B0E2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06F61"/>
                </a:solidFill>
              </a:defRPr>
            </a:pPr>
            <a:r>
              <a:rPr sz="825" b="0">
                <a:solidFill>
                  <a:srgbClr val="806F61"/>
                </a:solidFill>
              </a:rPr>
              <a:t>老年人健康管理智能体  ·  03</a:t>
            </a:r>
          </a:p>
        </p:txBody>
      </p:sp>
    </p:spTree>
    <p:extLst>
      <p:ext uri="{BB962C8B-B14F-4D97-AF65-F5344CB8AC3E}">
        <p14:creationId xmlns:p14="http://schemas.microsoft.com/office/powerpoint/2010/main" val="13433102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A33B293-EF56-4536-8CB4-04383793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7A3E"/>
                </a:solidFill>
              </a:defRPr>
            </a:pPr>
            <a:r>
              <a:rPr sz="975" b="1">
                <a:solidFill>
                  <a:srgbClr val="D77A3E"/>
                </a:solidFill>
              </a:rPr>
              <a:t>03  CURVE V2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BB4E83-6164-4E43-A411-629B175D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4362D"/>
                </a:solidFill>
              </a:defRPr>
            </a:pPr>
            <a:r>
              <a:rPr sz="2700" b="1">
                <a:solidFill>
                  <a:srgbClr val="44362D"/>
                </a:solidFill>
              </a:rPr>
              <a:t>曲线不再追求“画得像”，而是解释个人基线与不确定性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F1D7DA-A7BB-49CD-87E6-06825B38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06F61"/>
                </a:solidFill>
              </a:defRPr>
            </a:pPr>
            <a:r>
              <a:rPr sz="1350" b="0">
                <a:solidFill>
                  <a:srgbClr val="806F61"/>
                </a:solidFill>
              </a:rPr>
              <a:t>观测、趋势、预测三层分离；不足时拒绝预测。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1DAACE-BD39-4C9E-A40B-3A387991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1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44E347-A01C-44E3-A0F2-E679EF2B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65722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9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2BC9C0-21FD-4197-9165-449AE952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CCFCAC-8A04-46A3-8602-E86E3789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57550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B9AD4E-1012-4BC7-9EB4-9AD42B57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9DDEF4-7BF7-4A13-A9AA-5D1DB7FB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57650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BE374B-C038-4956-BE28-83D81FAC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57700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2A926A-00F5-4B25-9BDA-F34CC557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06F61"/>
                </a:solidFill>
              </a:defRPr>
            </a:pPr>
            <a:r>
              <a:rPr sz="975" b="0">
                <a:solidFill>
                  <a:srgbClr val="806F61"/>
                </a:solidFill>
              </a:rPr>
              <a:t>mmHg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8DC69E-A91C-4677-A5EA-DA12F08E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7192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1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D094D1-1227-4732-AC57-5089EA97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178618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1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95BE5E-665A-4120-8F27-48490F50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3098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1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070F9C-4DB8-41F0-9A53-DCE90C7A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2625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1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EB04CE-381B-4D32-9753-696778C6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9003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1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43EABF-73E3-4AF2-B97E-54F528CD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01453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1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108F1A-867B-4303-B305-7C50E41ED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20814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1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F76250-7A22-4510-9CEB-5651A2CA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19563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1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ECD550-3DCC-444E-BAFF-1F19A572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924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7A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77E115-900A-4FDA-BD08-612C5D4B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130993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7A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505EDF-0B87-4128-B6F6-7448D038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98335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7A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A99AE5-34BE-4A31-BDAF-2388906F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27863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7A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364DE1-4EE2-4630-AB0E-48C88B22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04241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7A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E8E421-D3E4-4B11-8DAF-B765ABF4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953828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7A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646481-B7BE-4220-8E4D-944FBAA5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16052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7A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B2FB8A-80A4-402D-9318-49E70496F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071938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7A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30CF10-BCF8-46CB-BC19-EE9D090B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90048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7A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26D2A1-0319-4D43-B6A0-52927831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48000"/>
            <a:ext cx="952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7348EB-62C6-48F4-AF6E-942C18A1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8612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C83C3"/>
                </a:solidFill>
              </a:defRPr>
            </a:pPr>
            <a:r>
              <a:rPr sz="1125" b="1">
                <a:solidFill>
                  <a:srgbClr val="4C83C3"/>
                </a:solidFill>
              </a:rPr>
              <a:t>未来 7 天</a:t>
            </a:r>
          </a:p>
          <a:p xmlns:a="http://schemas.openxmlformats.org/drawingml/2006/main">
            <a:pPr algn="ctr">
              <a:defRPr sz="1125" b="1">
                <a:solidFill>
                  <a:srgbClr val="4C83C3"/>
                </a:solidFill>
              </a:defRPr>
            </a:pPr>
            <a:r>
              <a:rPr sz="1125" b="1">
                <a:solidFill>
                  <a:srgbClr val="4C83C3"/>
                </a:solidFill>
              </a:rPr>
              <a:t>80% 区间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2E3060-6F6C-46AA-B287-6E035564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435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77A3E"/>
                </a:solidFill>
              </a:defRPr>
            </a:pPr>
            <a:r>
              <a:rPr sz="1125" b="1">
                <a:solidFill>
                  <a:srgbClr val="D77A3E"/>
                </a:solidFill>
              </a:rPr>
              <a:t>原始点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6C11E5-43B3-4C74-8779-186ED50C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1435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C83C3"/>
                </a:solidFill>
              </a:defRPr>
            </a:pPr>
            <a:r>
              <a:rPr sz="1125" b="1">
                <a:solidFill>
                  <a:srgbClr val="4C83C3"/>
                </a:solidFill>
              </a:rPr>
              <a:t>稳健趋势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F131D0-4E40-4C61-B774-5A262ADD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143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C83C3"/>
                </a:solidFill>
              </a:defRPr>
            </a:pPr>
            <a:r>
              <a:rPr sz="1125" b="1">
                <a:solidFill>
                  <a:srgbClr val="4C83C3"/>
                </a:solidFill>
              </a:rPr>
              <a:t>预测带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8A0C11-21B0-410E-88C9-CD805F6F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47900"/>
            <a:ext cx="35242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CE9D8"/>
          </a:solidFill>
          <a:ln xmlns:a="http://schemas.openxmlformats.org/drawingml/2006/main" w="9525">
            <a:solidFill>
              <a:srgbClr val="E4D9C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55AA4F-A26C-4355-9130-0A12B3F8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527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7A3E"/>
                </a:solidFill>
              </a:defRPr>
            </a:pPr>
            <a:r>
              <a:rPr sz="1725" b="1">
                <a:solidFill>
                  <a:srgbClr val="D77A3E"/>
                </a:solidFill>
              </a:rPr>
              <a:t>按指标分层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FECF8E-D54F-4E98-AF2D-3C9D1B63F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86100"/>
            <a:ext cx="20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7A3E"/>
                </a:solidFill>
              </a:defRPr>
            </a:pPr>
            <a:r>
              <a:rPr sz="1350" b="1">
                <a:solidFill>
                  <a:srgbClr val="D77A3E"/>
                </a:solidFill>
              </a:rPr>
              <a:t>•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3D0DD9D-407D-43E3-B236-20CF956D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861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4362D"/>
                </a:solidFill>
              </a:defRPr>
            </a:pPr>
            <a:r>
              <a:rPr sz="1350" b="0">
                <a:solidFill>
                  <a:srgbClr val="44362D"/>
                </a:solidFill>
              </a:rPr>
              <a:t>血压：收缩压 / 舒张压双序列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4180770-A6B0-4B2D-BE18-3D51D94F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86150"/>
            <a:ext cx="20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7A3E"/>
                </a:solidFill>
              </a:defRPr>
            </a:pPr>
            <a:r>
              <a:rPr sz="1350" b="1">
                <a:solidFill>
                  <a:srgbClr val="D77A3E"/>
                </a:solidFill>
              </a:rPr>
              <a:t>•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7B79E48-6C4D-48B0-931B-1C2F1AD5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861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4362D"/>
                </a:solidFill>
              </a:defRPr>
            </a:pPr>
            <a:r>
              <a:rPr sz="1350" b="0">
                <a:solidFill>
                  <a:srgbClr val="44362D"/>
                </a:solidFill>
              </a:rPr>
              <a:t>血糖：空腹、餐后、随机分组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A359067-69A5-443D-9D12-9CA98F27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86200"/>
            <a:ext cx="20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7A3E"/>
                </a:solidFill>
              </a:defRPr>
            </a:pPr>
            <a:r>
              <a:rPr sz="1350" b="1">
                <a:solidFill>
                  <a:srgbClr val="D77A3E"/>
                </a:solidFill>
              </a:rPr>
              <a:t>•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83169AC-C707-4A2D-91B4-2D130964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862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4362D"/>
                </a:solidFill>
              </a:defRPr>
            </a:pPr>
            <a:r>
              <a:rPr sz="1350" b="0">
                <a:solidFill>
                  <a:srgbClr val="44362D"/>
                </a:solidFill>
              </a:rPr>
              <a:t>体重：日/周中位数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F8BAAF6-A454-4078-9643-A7694A85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86250"/>
            <a:ext cx="20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7A3E"/>
                </a:solidFill>
              </a:defRPr>
            </a:pPr>
            <a:r>
              <a:rPr sz="1350" b="1">
                <a:solidFill>
                  <a:srgbClr val="D77A3E"/>
                </a:solidFill>
              </a:rPr>
              <a:t>•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55EC46B-A06D-4849-8ED4-D48828FBE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862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4362D"/>
                </a:solidFill>
              </a:defRPr>
            </a:pPr>
            <a:r>
              <a:rPr sz="1350" b="0">
                <a:solidFill>
                  <a:srgbClr val="44362D"/>
                </a:solidFill>
              </a:rPr>
              <a:t>步数、睡眠：行为模式，不外推精确日值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7343D3B-BC04-496B-A90B-DF9586D2A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06F61"/>
                </a:solidFill>
              </a:defRPr>
            </a:pPr>
            <a:r>
              <a:rPr sz="825" b="0">
                <a:solidFill>
                  <a:srgbClr val="806F61"/>
                </a:solidFill>
              </a:rPr>
              <a:t>老年人健康管理智能体  ·  04</a:t>
            </a:r>
          </a:p>
        </p:txBody>
      </p:sp>
    </p:spTree>
    <p:extLst>
      <p:ext uri="{BB962C8B-B14F-4D97-AF65-F5344CB8AC3E}">
        <p14:creationId xmlns:p14="http://schemas.microsoft.com/office/powerpoint/2010/main" val="12115766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230F0E-F85B-4728-94F5-FCF0CDA2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7A3E"/>
                </a:solidFill>
              </a:defRPr>
            </a:pPr>
            <a:r>
              <a:rPr sz="975" b="1">
                <a:solidFill>
                  <a:srgbClr val="D77A3E"/>
                </a:solidFill>
              </a:rPr>
              <a:t>04  疾病风险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7CE92D-2DFB-4076-8B4B-E0AF438AF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4362D"/>
                </a:solidFill>
              </a:defRPr>
            </a:pPr>
            <a:r>
              <a:rPr sz="2700" b="1">
                <a:solidFill>
                  <a:srgbClr val="44362D"/>
                </a:solidFill>
              </a:rPr>
              <a:t>XGBoost 不是“万能预测器”，而是和可解释基线并列比较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706B52-E8DE-49DF-ADAE-EEACA4A2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06F61"/>
                </a:solidFill>
              </a:defRPr>
            </a:pPr>
            <a:r>
              <a:rPr sz="1350" b="0">
                <a:solidFill>
                  <a:srgbClr val="806F61"/>
                </a:solidFill>
              </a:rPr>
              <a:t>风险接口用于队列筛查与复测分层，不输出诊断。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966328-C33C-4356-BA98-EBE81A2B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1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50FC6A-8864-4EAD-9C03-2296296F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2095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9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525B57-C938-47D8-9160-693E1206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28875"/>
            <a:ext cx="1752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77A3E"/>
                </a:solidFill>
              </a:defRPr>
            </a:pPr>
            <a:r>
              <a:rPr sz="2550" b="1">
                <a:solidFill>
                  <a:srgbClr val="D77A3E"/>
                </a:solidFill>
              </a:rPr>
              <a:t>0.6643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083B07-B5F5-4866-870F-F946BB68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09900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06F61"/>
                </a:solidFill>
              </a:defRPr>
            </a:pPr>
            <a:r>
              <a:rPr sz="1050" b="0">
                <a:solidFill>
                  <a:srgbClr val="806F61"/>
                </a:solidFill>
              </a:rPr>
              <a:t>高血压严格留出 AUC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AA4110-2F73-466E-A808-85696D86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286000"/>
            <a:ext cx="2095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9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36C151-8755-4665-991E-41A8E1668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28875"/>
            <a:ext cx="1752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C83C3"/>
                </a:solidFill>
              </a:defRPr>
            </a:pPr>
            <a:r>
              <a:rPr sz="2550" b="1">
                <a:solidFill>
                  <a:srgbClr val="4C83C3"/>
                </a:solidFill>
              </a:rPr>
              <a:t>0.04319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4B2C1E-F21D-4A27-B0E0-0C08EBF2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09900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06F61"/>
                </a:solidFill>
              </a:defRPr>
            </a:pPr>
            <a:r>
              <a:rPr sz="1050" b="0">
                <a:solidFill>
                  <a:srgbClr val="806F61"/>
                </a:solidFill>
              </a:rPr>
              <a:t>高血压 Brier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4D36EF-8361-47F4-9FDC-D799622C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286000"/>
            <a:ext cx="2095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9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67E4C0-A140-4CC8-80AE-A85D989C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28875"/>
            <a:ext cx="1752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B9274"/>
                </a:solidFill>
              </a:defRPr>
            </a:pPr>
            <a:r>
              <a:rPr sz="2550" b="1">
                <a:solidFill>
                  <a:srgbClr val="5B9274"/>
                </a:solidFill>
              </a:rPr>
              <a:t>4 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F4B523-59FA-4851-8C18-9440E9D9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09900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06F61"/>
                </a:solidFill>
              </a:defRPr>
            </a:pPr>
            <a:r>
              <a:rPr sz="1050" b="0">
                <a:solidFill>
                  <a:srgbClr val="806F61"/>
                </a:solidFill>
              </a:rPr>
              <a:t>疾病筛查模型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E629FD-8D8D-401E-9049-3BC212C6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86000"/>
            <a:ext cx="2857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9C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AE8779-D439-492B-A711-250F90787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28875"/>
            <a:ext cx="2514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066A6"/>
                </a:solidFill>
              </a:defRPr>
            </a:pPr>
            <a:r>
              <a:rPr sz="1800" b="1">
                <a:solidFill>
                  <a:srgbClr val="8066A6"/>
                </a:solidFill>
              </a:rPr>
              <a:t>Bootstrap + 校准 + 决策曲线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AC51C9-EE5F-4789-999F-21790ADCE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09900"/>
            <a:ext cx="2514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06F61"/>
                </a:solidFill>
              </a:defRPr>
            </a:pPr>
            <a:r>
              <a:rPr sz="1050" b="0">
                <a:solidFill>
                  <a:srgbClr val="806F61"/>
                </a:solidFill>
              </a:rPr>
              <a:t>扩展审计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1955F9-1ABD-4D72-BE46-6E48C846A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99441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9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0ACAEA-3DA1-4A62-908F-F1858B04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576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77A3E"/>
                </a:solidFill>
              </a:defRPr>
            </a:pPr>
            <a:r>
              <a:rPr sz="1500" b="1">
                <a:solidFill>
                  <a:srgbClr val="D77A3E"/>
                </a:solidFill>
              </a:rPr>
              <a:t>当前证据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1E74F8-6671-4BB8-8884-438D75960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38650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4362D"/>
                </a:solidFill>
              </a:defRPr>
            </a:pPr>
            <a:r>
              <a:rPr sz="1500" b="0">
                <a:solidFill>
                  <a:srgbClr val="44362D"/>
                </a:solidFill>
              </a:rPr>
              <a:t>Logistic 与 XGBoost 在训练集内部交叉验证选择，测试集只做一次严格留出评估；同时报告 Brier、校准分箱、Bootstrap 95% 区间和决策曲线。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93E296-CB64-4664-B54A-2E5F0ED9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95850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06F61"/>
                </a:solidFill>
              </a:defRPr>
            </a:pPr>
            <a:r>
              <a:rPr sz="1125" b="0">
                <a:solidFill>
                  <a:srgbClr val="806F61"/>
                </a:solidFill>
              </a:rPr>
              <a:t>Wave4→5 AUC：0.5887 / 0.5566 / 0.6205 / 0.6546；</a:t>
            </a:r>
          </a:p>
          <a:p xmlns:a="http://schemas.openxmlformats.org/drawingml/2006/main">
            <a:pPr algn="l">
              <a:defRPr sz="1125" b="0">
                <a:solidFill>
                  <a:srgbClr val="806F61"/>
                </a:solidFill>
              </a:defRPr>
            </a:pPr>
            <a:r>
              <a:rPr sz="1125" b="0">
                <a:solidFill>
                  <a:srgbClr val="806F61"/>
                </a:solidFill>
              </a:rPr>
              <a:t>参与者独立敏感性分析（重叠=0）：0.5402 / 0.5394 / 0.5703 / 0.6377。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9FA4DD-13C5-45B9-9C5A-ED2D2B81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06F61"/>
                </a:solidFill>
              </a:defRPr>
            </a:pPr>
            <a:r>
              <a:rPr sz="825" b="0">
                <a:solidFill>
                  <a:srgbClr val="806F61"/>
                </a:solidFill>
              </a:rPr>
              <a:t>老年人健康管理智能体  ·  05</a:t>
            </a:r>
          </a:p>
        </p:txBody>
      </p:sp>
    </p:spTree>
    <p:extLst>
      <p:ext uri="{BB962C8B-B14F-4D97-AF65-F5344CB8AC3E}">
        <p14:creationId xmlns:p14="http://schemas.microsoft.com/office/powerpoint/2010/main" val="2116449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566281-0E2E-4F21-9039-BF3605BC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7A3E"/>
                </a:solidFill>
              </a:defRPr>
            </a:pPr>
            <a:r>
              <a:rPr sz="975" b="1">
                <a:solidFill>
                  <a:srgbClr val="D77A3E"/>
                </a:solidFill>
              </a:rPr>
              <a:t>05  GRAPHRAG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96EC8D-A0F0-4E1B-80C3-F95F3827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4362D"/>
                </a:solidFill>
              </a:defRPr>
            </a:pPr>
            <a:r>
              <a:rPr sz="2700" b="1">
                <a:solidFill>
                  <a:srgbClr val="44362D"/>
                </a:solidFill>
              </a:rPr>
              <a:t>从“相似文本”升级为“证据关系 + 用户上下文”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E0B05E-951B-4E5C-AABD-0675094C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06F61"/>
                </a:solidFill>
              </a:defRPr>
            </a:pPr>
            <a:r>
              <a:rPr sz="1350" b="0">
                <a:solidFill>
                  <a:srgbClr val="806F61"/>
                </a:solidFill>
              </a:rPr>
              <a:t>每条建议都能回答：为什么是这个老人？证据来自哪里？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6EC4EA-896F-41A8-B7C6-C31E5EC6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1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A23E12-2E95-44F8-AB8B-ABF64C39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7900"/>
            <a:ext cx="1809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9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942098-F687-46A3-BCF3-5CED4D9A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90775"/>
            <a:ext cx="146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77A3E"/>
                </a:solidFill>
              </a:defRPr>
            </a:pPr>
            <a:r>
              <a:rPr sz="2550" b="1">
                <a:solidFill>
                  <a:srgbClr val="D77A3E"/>
                </a:solidFill>
              </a:rPr>
              <a:t>78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C66024-2E8C-4126-8D64-9469920BE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71800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06F61"/>
                </a:solidFill>
              </a:defRPr>
            </a:pPr>
            <a:r>
              <a:rPr sz="1050" b="0">
                <a:solidFill>
                  <a:srgbClr val="806F61"/>
                </a:solidFill>
              </a:rPr>
              <a:t>可追溯来源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B043C4-FF51-439F-9F9D-9161DD2F2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47900"/>
            <a:ext cx="1809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9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90B362-8B80-430F-91D3-E2CEC317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90775"/>
            <a:ext cx="146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C83C3"/>
                </a:solidFill>
              </a:defRPr>
            </a:pPr>
            <a:r>
              <a:rPr sz="2550" b="1">
                <a:solidFill>
                  <a:srgbClr val="4C83C3"/>
                </a:solidFill>
              </a:rPr>
              <a:t>159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A0B38B-5106-4296-9F45-1F55240D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71800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06F61"/>
                </a:solidFill>
              </a:defRPr>
            </a:pPr>
            <a:r>
              <a:rPr sz="1050" b="0">
                <a:solidFill>
                  <a:srgbClr val="806F61"/>
                </a:solidFill>
              </a:rPr>
              <a:t>实体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61EAB8-01B5-44E1-A8E4-576E95DC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47900"/>
            <a:ext cx="1809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9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C4A94A-8F28-4ABF-9D43-0DBD1E06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90775"/>
            <a:ext cx="146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8066A6"/>
                </a:solidFill>
              </a:defRPr>
            </a:pPr>
            <a:r>
              <a:rPr sz="2550" b="1">
                <a:solidFill>
                  <a:srgbClr val="8066A6"/>
                </a:solidFill>
              </a:rPr>
              <a:t>419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46A762-87DC-457C-8BDF-69F4B325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971800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06F61"/>
                </a:solidFill>
              </a:defRPr>
            </a:pPr>
            <a:r>
              <a:rPr sz="1050" b="0">
                <a:solidFill>
                  <a:srgbClr val="806F61"/>
                </a:solidFill>
              </a:rPr>
              <a:t>关系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A85CEB-527B-4E29-98D0-1F12C02FD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47900"/>
            <a:ext cx="1809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9C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8C43A6-04FF-410A-9F18-4FA96F77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90775"/>
            <a:ext cx="146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B9274"/>
                </a:solidFill>
              </a:defRPr>
            </a:pPr>
            <a:r>
              <a:rPr sz="2550" b="1">
                <a:solidFill>
                  <a:srgbClr val="5B9274"/>
                </a:solidFill>
              </a:rPr>
              <a:t>61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99CC4D-8F72-48DE-9B83-28F3D79C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71800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06F61"/>
                </a:solidFill>
              </a:defRPr>
            </a:pPr>
            <a:r>
              <a:rPr sz="1050" b="0">
                <a:solidFill>
                  <a:srgbClr val="806F61"/>
                </a:solidFill>
              </a:rPr>
              <a:t>黄金问题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400180-D746-4C62-B008-B84B0BCD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47900"/>
            <a:ext cx="2381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9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E3C08E-B1E3-4226-85DE-509E054C2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90775"/>
            <a:ext cx="2038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77A3E"/>
                </a:solidFill>
              </a:defRPr>
            </a:pPr>
            <a:r>
              <a:rPr sz="2550" b="1">
                <a:solidFill>
                  <a:srgbClr val="D77A3E"/>
                </a:solidFill>
              </a:rPr>
              <a:t>20/20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A0D930-B924-47BD-8676-0713F1AE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971800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06F61"/>
                </a:solidFill>
              </a:defRPr>
            </a:pPr>
            <a:r>
              <a:rPr sz="1050" b="0">
                <a:solidFill>
                  <a:srgbClr val="806F61"/>
                </a:solidFill>
              </a:rPr>
              <a:t>配对建议发生变化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4ECAA3-D4AC-4F74-B3CF-0EE1CD2B6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10382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9C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C10F33-8139-4253-B859-CA0072F9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77A3E"/>
                </a:solidFill>
              </a:defRPr>
            </a:pPr>
            <a:r>
              <a:rPr sz="1500" b="1">
                <a:solidFill>
                  <a:srgbClr val="D77A3E"/>
                </a:solidFill>
              </a:rPr>
              <a:t>GraphRAG 的可量化改进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E29FB4-7422-4BA0-8301-074031C3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00550"/>
            <a:ext cx="4381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4362D"/>
                </a:solidFill>
              </a:defRPr>
            </a:pPr>
            <a:r>
              <a:rPr sz="1425" b="0">
                <a:solidFill>
                  <a:srgbClr val="44362D"/>
                </a:solidFill>
              </a:rPr>
              <a:t>必需证据召回 83.6% → 100%</a:t>
            </a:r>
          </a:p>
          <a:p xmlns:a="http://schemas.openxmlformats.org/drawingml/2006/main">
            <a:pPr algn="l">
              <a:defRPr sz="1425" b="0">
                <a:solidFill>
                  <a:srgbClr val="44362D"/>
                </a:solidFill>
              </a:defRPr>
            </a:pPr>
            <a:r>
              <a:rPr sz="1425" b="0">
                <a:solidFill>
                  <a:srgbClr val="44362D"/>
                </a:solidFill>
              </a:rPr>
              <a:t>路径解释率 0% → 100%</a:t>
            </a:r>
          </a:p>
          <a:p xmlns:a="http://schemas.openxmlformats.org/drawingml/2006/main">
            <a:pPr algn="l">
              <a:defRPr sz="1425" b="0">
                <a:solidFill>
                  <a:srgbClr val="44362D"/>
                </a:solidFill>
              </a:defRPr>
            </a:pPr>
            <a:r>
              <a:rPr sz="1425" b="0">
                <a:solidFill>
                  <a:srgbClr val="44362D"/>
                </a:solidFill>
              </a:rPr>
              <a:t>个性化行动变化率 0% → 100%</a:t>
            </a:r>
          </a:p>
          <a:p xmlns:a="http://schemas.openxmlformats.org/drawingml/2006/main">
            <a:pPr algn="l">
              <a:defRPr sz="1425" b="0">
                <a:solidFill>
                  <a:srgbClr val="44362D"/>
                </a:solidFill>
              </a:defRPr>
            </a:pPr>
            <a:r>
              <a:rPr sz="1425" b="0">
                <a:solidFill>
                  <a:srgbClr val="44362D"/>
                </a:solidFill>
              </a:rPr>
              <a:t>急症召回维持 100%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6D07BD-3A1F-4B57-A4AC-1BEA58A7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7670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06F61"/>
                </a:solidFill>
              </a:defRPr>
            </a:pPr>
            <a:r>
              <a:rPr sz="1350" b="0">
                <a:solidFill>
                  <a:srgbClr val="806F61"/>
                </a:solidFill>
              </a:rPr>
              <a:t>普通 RAG 仍有价值：权威来源率 84.4% 高于当前 GraphRAG 83.9%，因此下一步是提升证据排序，而不是夸大图谱优势。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317AB0-575E-4A4A-B1B5-22F0D00E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06F61"/>
                </a:solidFill>
              </a:defRPr>
            </a:pPr>
            <a:r>
              <a:rPr sz="825" b="0">
                <a:solidFill>
                  <a:srgbClr val="806F61"/>
                </a:solidFill>
              </a:rPr>
              <a:t>老年人健康管理智能体  ·  06</a:t>
            </a:r>
          </a:p>
        </p:txBody>
      </p:sp>
    </p:spTree>
    <p:extLst>
      <p:ext uri="{BB962C8B-B14F-4D97-AF65-F5344CB8AC3E}">
        <p14:creationId xmlns:p14="http://schemas.microsoft.com/office/powerpoint/2010/main" val="11479710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DAB7DD-0139-4AC3-8F7D-7F6653FE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7A3E"/>
                </a:solidFill>
              </a:defRPr>
            </a:pPr>
            <a:r>
              <a:rPr sz="975" b="1">
                <a:solidFill>
                  <a:srgbClr val="D77A3E"/>
                </a:solidFill>
              </a:rPr>
              <a:t>06  安全边界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CD2310-2567-44C0-A4C2-E1685F05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4362D"/>
                </a:solidFill>
              </a:defRPr>
            </a:pPr>
            <a:r>
              <a:rPr sz="2700" b="1">
                <a:solidFill>
                  <a:srgbClr val="44362D"/>
                </a:solidFill>
              </a:rPr>
              <a:t>不是所有关系都能直接变成老人建议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1FF03B-ACEB-4E48-9327-987FF32D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06F61"/>
                </a:solidFill>
              </a:defRPr>
            </a:pPr>
            <a:r>
              <a:rPr sz="1350" b="0">
                <a:solidFill>
                  <a:srgbClr val="806F61"/>
                </a:solidFill>
              </a:rPr>
              <a:t>未审核高风险关系被挡在老人端；急症关系只保留为安全提示。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1B3000-9B5F-4CD1-8EB0-21D38604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1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4B44CD-BC8F-4168-9C75-180EFA43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38375"/>
            <a:ext cx="10001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9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66D2F8-60A3-4EED-9EF9-80D9EC5A3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66975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D77A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202CAD-A8CA-4547-83CF-7417EE9C1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622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6CB667-37F8-47EF-BAE5-774E8339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4098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77A3E"/>
                </a:solidFill>
              </a:defRPr>
            </a:pPr>
            <a:r>
              <a:rPr sz="1575" b="1">
                <a:solidFill>
                  <a:srgbClr val="D77A3E"/>
                </a:solidFill>
              </a:rPr>
              <a:t>审核状态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24BF22-4578-420A-A727-ECF85538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71462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4362D"/>
                </a:solidFill>
              </a:defRPr>
            </a:pPr>
            <a:r>
              <a:rPr sz="1350" b="0">
                <a:solidFill>
                  <a:srgbClr val="44362D"/>
                </a:solidFill>
              </a:rPr>
              <a:t>83 条高风险关系全部有 AI 预审意见；66 条仅限健康教育，17 条必须临床确认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452051-DDB2-4EC3-8C8F-8F410A46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81375"/>
            <a:ext cx="10001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9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6361D1-4F2A-4501-A65B-98401E3E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09975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4C83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086207-9357-4E7D-B094-1E53D304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052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EAA646-ED33-4F51-97F1-124DEE401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5528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C83C3"/>
                </a:solidFill>
              </a:defRPr>
            </a:pPr>
            <a:r>
              <a:rPr sz="1575" b="1">
                <a:solidFill>
                  <a:srgbClr val="4C83C3"/>
                </a:solidFill>
              </a:rPr>
              <a:t>门槛回归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C91E6D-C4ED-417E-85A0-1B7CE1D1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5762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4362D"/>
                </a:solidFill>
              </a:defRPr>
            </a:pPr>
            <a:r>
              <a:rPr sz="1350" b="0">
                <a:solidFill>
                  <a:srgbClr val="44362D"/>
                </a:solidFill>
              </a:rPr>
              <a:t>老人端阻断 16 条未确认边，医生/审计视图保留完整路径；4 个 legacy 来源默认显式标记待复核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3E4750-FA5D-4668-8AAA-F1923DF43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24375"/>
            <a:ext cx="10001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9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E212E0-A235-4BF9-9D67-ED5A41C6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52975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5B92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B69763-3DF0-4C05-A93C-335DA7DE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482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8E515C-DA1B-459F-9057-8C2D05E7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958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B9274"/>
                </a:solidFill>
              </a:defRPr>
            </a:pPr>
            <a:r>
              <a:rPr sz="1575" b="1">
                <a:solidFill>
                  <a:srgbClr val="5B9274"/>
                </a:solidFill>
              </a:rPr>
              <a:t>大模型约束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F1E101-D056-4158-B1A7-C29D2443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0062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4362D"/>
                </a:solidFill>
              </a:defRPr>
            </a:pPr>
            <a:r>
              <a:rPr sz="1350" b="0">
                <a:solidFill>
                  <a:srgbClr val="44362D"/>
                </a:solidFill>
              </a:rPr>
              <a:t>DeepSeek 只能组织工具与 GraphRAG 证据，不能创造指标、日期、概率或剂量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233385-AC3D-4C33-91DB-3C46D96E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06F61"/>
                </a:solidFill>
              </a:defRPr>
            </a:pPr>
            <a:r>
              <a:rPr sz="825" b="0">
                <a:solidFill>
                  <a:srgbClr val="806F61"/>
                </a:solidFill>
              </a:rPr>
              <a:t>老年人健康管理智能体  ·  07</a:t>
            </a:r>
          </a:p>
        </p:txBody>
      </p:sp>
    </p:spTree>
    <p:extLst>
      <p:ext uri="{BB962C8B-B14F-4D97-AF65-F5344CB8AC3E}">
        <p14:creationId xmlns:p14="http://schemas.microsoft.com/office/powerpoint/2010/main" val="11141173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DCBBB0-DDA0-455C-B4E5-ED8F5514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7A3E"/>
                </a:solidFill>
              </a:defRPr>
            </a:pPr>
            <a:r>
              <a:rPr sz="975" b="1">
                <a:solidFill>
                  <a:srgbClr val="D77A3E"/>
                </a:solidFill>
              </a:rPr>
              <a:t>07  智能体闭环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D5056F-85FB-4944-9434-95B2BAF51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4362D"/>
                </a:solidFill>
              </a:defRPr>
            </a:pPr>
            <a:r>
              <a:rPr sz="2700" b="1">
                <a:solidFill>
                  <a:srgbClr val="44362D"/>
                </a:solidFill>
              </a:rPr>
              <a:t>回答只是起点，复测结果才是下一轮输入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6922B5-FB00-4CC5-BF20-535C2F44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06F61"/>
                </a:solidFill>
              </a:defRPr>
            </a:pPr>
            <a:r>
              <a:rPr sz="1350" b="0">
                <a:solidFill>
                  <a:srgbClr val="806F61"/>
                </a:solidFill>
              </a:rPr>
              <a:t>从问题理解到行动完成，系统保留证据和状态。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8B706B-BBB5-485C-84ED-3A7C65B16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1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928B74-BB3A-4EAC-817F-35ED0F7A5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190875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1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554090-C475-4685-AEF5-E5972BEF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2192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9C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CD6376-90FF-470C-B954-FA12E42E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9900"/>
            <a:ext cx="1028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4362D"/>
                </a:solidFill>
              </a:defRPr>
            </a:pPr>
            <a:r>
              <a:rPr sz="1350" b="1">
                <a:solidFill>
                  <a:srgbClr val="44362D"/>
                </a:solidFill>
              </a:rPr>
              <a:t>理解意图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EE8388-FAC4-45C4-83ED-8A6CC319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0194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77A3E"/>
                </a:solidFill>
              </a:defRPr>
            </a:pPr>
            <a:r>
              <a:rPr sz="1650" b="1">
                <a:solidFill>
                  <a:srgbClr val="D77A3E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269C8B-D703-42FF-A7BA-F888FFE93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190875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1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00674A-E8E3-45BF-BDB3-9E62B87F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14625"/>
            <a:ext cx="12192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9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BDF32E-C41C-44EE-A75B-261F6AFD2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09900"/>
            <a:ext cx="1028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4362D"/>
                </a:solidFill>
              </a:defRPr>
            </a:pPr>
            <a:r>
              <a:rPr sz="1350" b="1">
                <a:solidFill>
                  <a:srgbClr val="44362D"/>
                </a:solidFill>
              </a:rPr>
              <a:t>读取数据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BAAAAF-C546-49CF-8E84-5AD32610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0194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77A3E"/>
                </a:solidFill>
              </a:defRPr>
            </a:pPr>
            <a:r>
              <a:rPr sz="1650" b="1">
                <a:solidFill>
                  <a:srgbClr val="D77A3E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0163A9-1250-478F-B970-0C072DEC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190875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1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7E5A99-17CF-42D1-BB02-EB44D725B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14625"/>
            <a:ext cx="12192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9C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7F11E2-B01E-43D4-94D0-77B77917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09900"/>
            <a:ext cx="1028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4362D"/>
                </a:solidFill>
              </a:defRPr>
            </a:pPr>
            <a:r>
              <a:rPr sz="1350" b="1">
                <a:solidFill>
                  <a:srgbClr val="44362D"/>
                </a:solidFill>
              </a:rPr>
              <a:t>调用工具</a:t>
            </a:r>
          </a:p>
          <a:p xmlns:a="http://schemas.openxmlformats.org/drawingml/2006/main">
            <a:pPr algn="ctr">
              <a:defRPr sz="1350" b="1">
                <a:solidFill>
                  <a:srgbClr val="44362D"/>
                </a:solidFill>
              </a:defRPr>
            </a:pPr>
            <a:r>
              <a:rPr sz="1350" b="1">
                <a:solidFill>
                  <a:srgbClr val="44362D"/>
                </a:solidFill>
              </a:rPr>
              <a:t>与图谱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4CBB76-1EBB-4765-8ED2-FB8326D7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0194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77A3E"/>
                </a:solidFill>
              </a:defRPr>
            </a:pPr>
            <a:r>
              <a:rPr sz="1650" b="1">
                <a:solidFill>
                  <a:srgbClr val="D77A3E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583C54-729D-4392-8E76-D33955A81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90875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1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38D4A6-748E-4DE9-8C43-3616D634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14625"/>
            <a:ext cx="12192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E4D9C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6FEB93-591F-4DB8-A713-33B6A360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09900"/>
            <a:ext cx="1028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4362D"/>
                </a:solidFill>
              </a:defRPr>
            </a:pPr>
            <a:r>
              <a:rPr sz="1350" b="1">
                <a:solidFill>
                  <a:srgbClr val="44362D"/>
                </a:solidFill>
              </a:rPr>
              <a:t>安全过滤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1130E-48D0-4660-9226-37FFA4485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0194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77A3E"/>
                </a:solidFill>
              </a:defRPr>
            </a:pPr>
            <a:r>
              <a:rPr sz="1650" b="1">
                <a:solidFill>
                  <a:srgbClr val="D77A3E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F32224-8AD9-4C73-A4F3-95E4465C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90875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1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11D12E-8304-44D5-B723-1B8AE50A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14625"/>
            <a:ext cx="12192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9F1FB"/>
          </a:solidFill>
          <a:ln xmlns:a="http://schemas.openxmlformats.org/drawingml/2006/main" w="9525">
            <a:solidFill>
              <a:srgbClr val="E4D9C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D8CD6E-6FDC-401F-8AB1-2FBF93CFD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09900"/>
            <a:ext cx="1028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3C3"/>
                </a:solidFill>
              </a:defRPr>
            </a:pPr>
            <a:r>
              <a:rPr sz="1350" b="1">
                <a:solidFill>
                  <a:srgbClr val="4C83C3"/>
                </a:solidFill>
              </a:rPr>
              <a:t>DeepSeek</a:t>
            </a:r>
          </a:p>
          <a:p xmlns:a="http://schemas.openxmlformats.org/drawingml/2006/main">
            <a:pPr algn="ctr">
              <a:defRPr sz="1350" b="1">
                <a:solidFill>
                  <a:srgbClr val="4C83C3"/>
                </a:solidFill>
              </a:defRPr>
            </a:pPr>
            <a:r>
              <a:rPr sz="1350" b="1">
                <a:solidFill>
                  <a:srgbClr val="4C83C3"/>
                </a:solidFill>
              </a:rPr>
              <a:t>组织语言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EFA3AA-7E2D-4DE8-BE21-4C45AD42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0194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77A3E"/>
                </a:solidFill>
              </a:defRPr>
            </a:pPr>
            <a:r>
              <a:rPr sz="1650" b="1">
                <a:solidFill>
                  <a:srgbClr val="D77A3E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2E809E-DF17-4C8C-BBFA-7FE499C00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714625"/>
            <a:ext cx="12192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9C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21B9AA-B3AB-428E-B2C8-2C1737A6C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009900"/>
            <a:ext cx="1028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4362D"/>
                </a:solidFill>
              </a:defRPr>
            </a:pPr>
            <a:r>
              <a:rPr sz="1350" b="1">
                <a:solidFill>
                  <a:srgbClr val="44362D"/>
                </a:solidFill>
              </a:rPr>
              <a:t>创建待办</a:t>
            </a:r>
          </a:p>
          <a:p xmlns:a="http://schemas.openxmlformats.org/drawingml/2006/main">
            <a:pPr algn="ctr">
              <a:defRPr sz="1350" b="1">
                <a:solidFill>
                  <a:srgbClr val="44362D"/>
                </a:solidFill>
              </a:defRPr>
            </a:pPr>
            <a:r>
              <a:rPr sz="1350" b="1">
                <a:solidFill>
                  <a:srgbClr val="44362D"/>
                </a:solidFill>
              </a:rPr>
              <a:t>复测反馈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25F2B6-E773-448F-9430-187738C6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619625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06F61"/>
                </a:solidFill>
              </a:defRPr>
            </a:pPr>
            <a:r>
              <a:rPr sz="1500" b="1">
                <a:solidFill>
                  <a:srgbClr val="806F61"/>
                </a:solidFill>
              </a:rPr>
              <a:t>状态可追溯：建议内容 · 用户确认 · 执行时间 · 复测结果 · 是否解除提醒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AFD3CE-A5B2-4076-AE08-C9C456B3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06F61"/>
                </a:solidFill>
              </a:defRPr>
            </a:pPr>
            <a:r>
              <a:rPr sz="825" b="0">
                <a:solidFill>
                  <a:srgbClr val="806F61"/>
                </a:solidFill>
              </a:rPr>
              <a:t>老年人健康管理智能体  ·  08</a:t>
            </a:r>
          </a:p>
        </p:txBody>
      </p:sp>
    </p:spTree>
    <p:extLst>
      <p:ext uri="{BB962C8B-B14F-4D97-AF65-F5344CB8AC3E}">
        <p14:creationId xmlns:p14="http://schemas.microsoft.com/office/powerpoint/2010/main" val="6687255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965A35-0F8B-4B77-8FC8-1D2262CE1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7A3E"/>
                </a:solidFill>
              </a:defRPr>
            </a:pPr>
            <a:r>
              <a:rPr sz="975" b="1">
                <a:solidFill>
                  <a:srgbClr val="D77A3E"/>
                </a:solidFill>
              </a:rPr>
              <a:t>08  可复现证据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6A64E1-2E8B-44FC-B047-D68D33E1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4362D"/>
                </a:solidFill>
              </a:defRPr>
            </a:pPr>
            <a:r>
              <a:rPr sz="2700" b="1">
                <a:solidFill>
                  <a:srgbClr val="44362D"/>
                </a:solidFill>
              </a:rPr>
              <a:t>把“看起来能用”变成可审计的运行记录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5D4303-0408-4AFF-B959-04D54A93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06F61"/>
                </a:solidFill>
              </a:defRPr>
            </a:pPr>
            <a:r>
              <a:rPr sz="1350" b="0">
                <a:solidFill>
                  <a:srgbClr val="806F61"/>
                </a:solidFill>
              </a:rPr>
              <a:t>每次实验都绑定数据版本、代码版本、模型版本和参数。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A57951-6A69-485B-80D6-EC803DC6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1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27FF3-3B3F-46BC-89FC-D886D009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47625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9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0FD43D-29F4-4F89-AB01-B5339FCB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71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7A3E"/>
                </a:solidFill>
              </a:defRPr>
            </a:pPr>
            <a:r>
              <a:rPr sz="1725" b="1">
                <a:solidFill>
                  <a:srgbClr val="D77A3E"/>
                </a:solidFill>
              </a:rPr>
              <a:t>已通过的本地验收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07DEEE-D190-4C1C-B12B-213C7D27D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209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7A3E"/>
                </a:solidFill>
              </a:defRPr>
            </a:pPr>
            <a:r>
              <a:rPr sz="1350" b="1">
                <a:solidFill>
                  <a:srgbClr val="D77A3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DF17E1-8605-413E-B1D2-98F9EF0E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1051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4362D"/>
                </a:solidFill>
              </a:defRPr>
            </a:pPr>
            <a:r>
              <a:rPr sz="1350" b="0">
                <a:solidFill>
                  <a:srgbClr val="44362D"/>
                </a:solidFill>
              </a:rPr>
              <a:t>Curve V2：28/28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296D90-499E-4A26-920E-757034D8C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38525"/>
            <a:ext cx="209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7A3E"/>
                </a:solidFill>
              </a:defRPr>
            </a:pPr>
            <a:r>
              <a:rPr sz="1350" b="1">
                <a:solidFill>
                  <a:srgbClr val="D77A3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E5C2B9-2B57-4302-B810-D887DD0C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38525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4362D"/>
                </a:solidFill>
              </a:defRPr>
            </a:pPr>
            <a:r>
              <a:rPr sz="1350" b="0">
                <a:solidFill>
                  <a:srgbClr val="44362D"/>
                </a:solidFill>
              </a:rPr>
              <a:t>GraphRAG：61题黄金 + 24题改写留出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FE6C6E-C572-4739-918B-8D4EA3C5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71900"/>
            <a:ext cx="209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7A3E"/>
                </a:solidFill>
              </a:defRPr>
            </a:pPr>
            <a:r>
              <a:rPr sz="1350" b="1">
                <a:solidFill>
                  <a:srgbClr val="D77A3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51B8C9-FE0C-4389-83A6-6F35DD74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77190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4362D"/>
                </a:solidFill>
              </a:defRPr>
            </a:pPr>
            <a:r>
              <a:rPr sz="1350" b="0">
                <a:solidFill>
                  <a:srgbClr val="44362D"/>
                </a:solidFill>
              </a:rPr>
              <a:t>个性化配对：20/20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F16869-824E-4781-BB39-6D12C9E4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05275"/>
            <a:ext cx="209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7A3E"/>
                </a:solidFill>
              </a:defRPr>
            </a:pPr>
            <a:r>
              <a:rPr sz="1350" b="1">
                <a:solidFill>
                  <a:srgbClr val="D77A3E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002F04-A8B1-4149-A001-0C6822264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105275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4362D"/>
                </a:solidFill>
              </a:defRPr>
            </a:pPr>
            <a:r>
              <a:rPr sz="1350" b="0">
                <a:solidFill>
                  <a:srgbClr val="44362D"/>
                </a:solidFill>
              </a:rPr>
              <a:t>Node 工具：22/22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56D986-338E-4286-B052-EF06AAF2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38650"/>
            <a:ext cx="209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7A3E"/>
                </a:solidFill>
              </a:defRPr>
            </a:pPr>
            <a:r>
              <a:rPr sz="1350" b="1">
                <a:solidFill>
                  <a:srgbClr val="D77A3E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223E24-2B5C-437C-8C49-B26B10FF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386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4362D"/>
                </a:solidFill>
              </a:defRPr>
            </a:pPr>
            <a:r>
              <a:rPr sz="1350" b="0">
                <a:solidFill>
                  <a:srgbClr val="44362D"/>
                </a:solidFill>
              </a:rPr>
              <a:t>Node 趋势：26/26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DCE666-EC97-42C5-A438-AD3F7A9D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72025"/>
            <a:ext cx="209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7A3E"/>
                </a:solidFill>
              </a:defRPr>
            </a:pPr>
            <a:r>
              <a:rPr sz="1350" b="1">
                <a:solidFill>
                  <a:srgbClr val="D77A3E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3E039D-A974-436E-A87C-7B29B76D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772025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4362D"/>
                </a:solidFill>
              </a:defRPr>
            </a:pPr>
            <a:r>
              <a:rPr sz="1350" b="0">
                <a:solidFill>
                  <a:srgbClr val="44362D"/>
                </a:solidFill>
              </a:rPr>
              <a:t>最终验收：PASS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6EAE74-2D6C-466E-8D4F-C6354E9F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47625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E9F1FB"/>
          </a:solidFill>
          <a:ln xmlns:a="http://schemas.openxmlformats.org/drawingml/2006/main" w="9525">
            <a:solidFill>
              <a:srgbClr val="E4D9C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52A31C-F7F8-448F-AA77-2D363174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71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C83C3"/>
                </a:solidFill>
              </a:defRPr>
            </a:pPr>
            <a:r>
              <a:rPr sz="1725" b="1">
                <a:solidFill>
                  <a:srgbClr val="4C83C3"/>
                </a:solidFill>
              </a:rPr>
              <a:t>仍需外部完成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56F2CE-A651-4A0E-BB44-56410B23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05150"/>
            <a:ext cx="20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7A3E"/>
                </a:solidFill>
              </a:defRPr>
            </a:pPr>
            <a:r>
              <a:rPr sz="1350" b="1">
                <a:solidFill>
                  <a:srgbClr val="D77A3E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9A3B1F-A2EB-4DC5-AED3-6D706123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051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4362D"/>
                </a:solidFill>
              </a:defRPr>
            </a:pPr>
            <a:r>
              <a:rPr sz="1350" b="0">
                <a:solidFill>
                  <a:srgbClr val="44362D"/>
                </a:solidFill>
              </a:rPr>
              <a:t>持证医生逐条签字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35AB13-CC51-464D-84BF-0B21F6B9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05200"/>
            <a:ext cx="20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7A3E"/>
                </a:solidFill>
              </a:defRPr>
            </a:pPr>
            <a:r>
              <a:rPr sz="1350" b="1">
                <a:solidFill>
                  <a:srgbClr val="D77A3E"/>
                </a:solidFill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E1D3A7-7421-466A-B6CA-B70FFB09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052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4362D"/>
                </a:solidFill>
              </a:defRPr>
            </a:pPr>
            <a:r>
              <a:rPr sz="1350" b="0">
                <a:solidFill>
                  <a:srgbClr val="44362D"/>
                </a:solidFill>
              </a:rPr>
              <a:t>15–30 名老人 + 3–5 名医生盲评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4967F4-B43B-4783-A3F1-DEF3628E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05250"/>
            <a:ext cx="20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7A3E"/>
                </a:solidFill>
              </a:defRPr>
            </a:pPr>
            <a:r>
              <a:rPr sz="1350" b="1">
                <a:solidFill>
                  <a:srgbClr val="D77A3E"/>
                </a:solidFill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5771F0-0732-47B9-8433-2DC6FBE4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052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4362D"/>
                </a:solidFill>
              </a:defRPr>
            </a:pPr>
            <a:r>
              <a:rPr sz="1350" b="0">
                <a:solidFill>
                  <a:srgbClr val="44362D"/>
                </a:solidFill>
              </a:rPr>
              <a:t>60–90 天真实纵向曲线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9AC5DD-5315-40A5-8CB8-758E1FA5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05300"/>
            <a:ext cx="20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7A3E"/>
                </a:solidFill>
              </a:defRPr>
            </a:pPr>
            <a:r>
              <a:rPr sz="1350" b="1">
                <a:solidFill>
                  <a:srgbClr val="D77A3E"/>
                </a:solidFill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D02493-FA52-48DF-A804-BF3BF21C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053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4362D"/>
                </a:solidFill>
              </a:defRPr>
            </a:pPr>
            <a:r>
              <a:rPr sz="1350" b="0">
                <a:solidFill>
                  <a:srgbClr val="44362D"/>
                </a:solidFill>
              </a:rPr>
              <a:t>带日期独立队列外部验证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4B446C-4F43-4D89-8041-8D1CF64B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705350"/>
            <a:ext cx="20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7A3E"/>
                </a:solidFill>
              </a:defRPr>
            </a:pPr>
            <a:r>
              <a:rPr sz="1350" b="1">
                <a:solidFill>
                  <a:srgbClr val="D77A3E"/>
                </a:solidFill>
              </a:rPr>
              <a:t>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7F3D50-9CEC-4739-8DEE-C3347B3E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7053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4362D"/>
                </a:solidFill>
              </a:defRPr>
            </a:pPr>
            <a:r>
              <a:rPr sz="1350" b="0">
                <a:solidFill>
                  <a:srgbClr val="44362D"/>
                </a:solidFill>
              </a:rPr>
              <a:t>学校模板与作者信息确认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4F2631-1E07-446A-BBFD-50A700564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06F61"/>
                </a:solidFill>
              </a:defRPr>
            </a:pPr>
            <a:r>
              <a:rPr sz="825" b="0">
                <a:solidFill>
                  <a:srgbClr val="806F61"/>
                </a:solidFill>
              </a:rPr>
              <a:t>老年人健康管理智能体  ·  09</a:t>
            </a:r>
          </a:p>
        </p:txBody>
      </p:sp>
    </p:spTree>
    <p:extLst>
      <p:ext uri="{BB962C8B-B14F-4D97-AF65-F5344CB8AC3E}">
        <p14:creationId xmlns:p14="http://schemas.microsoft.com/office/powerpoint/2010/main" val="17476109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ABF469-0832-4FB8-97A3-0CC74F86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7A3E"/>
                </a:solidFill>
              </a:defRPr>
            </a:pPr>
            <a:r>
              <a:rPr sz="975" b="1">
                <a:solidFill>
                  <a:srgbClr val="D77A3E"/>
                </a:solidFill>
              </a:rPr>
              <a:t>09  冲奖路线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AAB0F2-399B-43B4-A5F3-6B4AF675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4362D"/>
                </a:solidFill>
              </a:defRPr>
            </a:pPr>
            <a:r>
              <a:rPr sz="2700" b="1">
                <a:solidFill>
                  <a:srgbClr val="44362D"/>
                </a:solidFill>
              </a:rPr>
              <a:t>下一步不是继续堆功能，而是补齐外部证据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09824C-93CC-4FD6-8650-815E8ACE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06F61"/>
                </a:solidFill>
              </a:defRPr>
            </a:pPr>
            <a:r>
              <a:rPr sz="1350" b="0">
                <a:solidFill>
                  <a:srgbClr val="806F61"/>
                </a:solidFill>
              </a:rPr>
              <a:t>14 天提交冲刺按“审核—验证—人因—材料”推进。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19B278-72B7-4957-A9DF-B95F04B7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1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D5A63F-43DC-48B9-912D-8E881E9D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717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7A3E"/>
                </a:solidFill>
              </a:defRPr>
            </a:pPr>
            <a:r>
              <a:rPr sz="1350" b="1">
                <a:solidFill>
                  <a:srgbClr val="D77A3E"/>
                </a:solidFill>
              </a:rPr>
              <a:t>D1–3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9A7BD7-8694-44BB-9CD5-032DF468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717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4362D"/>
                </a:solidFill>
              </a:defRPr>
            </a:pPr>
            <a:r>
              <a:rPr sz="1425" b="1">
                <a:solidFill>
                  <a:srgbClr val="44362D"/>
                </a:solidFill>
              </a:rPr>
              <a:t>医学审核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A5381C-0683-41E8-A3D9-5CB494CC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71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06F61"/>
                </a:solidFill>
              </a:defRPr>
            </a:pPr>
            <a:r>
              <a:rPr sz="1350" b="0">
                <a:solidFill>
                  <a:srgbClr val="806F61"/>
                </a:solidFill>
              </a:rPr>
              <a:t>4 类核心疾病逐条确认高风险关系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1C6023-6371-4133-956E-8393A0CF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8127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723275-8D3B-4318-ACA1-BEB3C0563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384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7A3E"/>
                </a:solidFill>
              </a:defRPr>
            </a:pPr>
            <a:r>
              <a:rPr sz="1350" b="1">
                <a:solidFill>
                  <a:srgbClr val="D77A3E"/>
                </a:solidFill>
              </a:rPr>
              <a:t>D4–6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6C541F-54FF-47E9-89AC-6B63D166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384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4362D"/>
                </a:solidFill>
              </a:defRPr>
            </a:pPr>
            <a:r>
              <a:rPr sz="1425" b="1">
                <a:solidFill>
                  <a:srgbClr val="44362D"/>
                </a:solidFill>
              </a:rPr>
              <a:t>实验扩展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557BB5-1B4F-44C7-BA50-55E2CE04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384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06F61"/>
                </a:solidFill>
              </a:defRPr>
            </a:pPr>
            <a:r>
              <a:rPr sz="1350" b="0">
                <a:solidFill>
                  <a:srgbClr val="806F61"/>
                </a:solidFill>
              </a:rPr>
              <a:t>60 条问题、三路检索和安全集冻结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5597EF-0326-4038-874B-CB5F3AFA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4802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310E65-A942-42D6-A45A-FB7311FB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052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7A3E"/>
                </a:solidFill>
              </a:defRPr>
            </a:pPr>
            <a:r>
              <a:rPr sz="1350" b="1">
                <a:solidFill>
                  <a:srgbClr val="D77A3E"/>
                </a:solidFill>
              </a:rPr>
              <a:t>D7–9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A928AD-5A22-4F8C-8164-124FA14E5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5052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4362D"/>
                </a:solidFill>
              </a:defRPr>
            </a:pPr>
            <a:r>
              <a:rPr sz="1425" b="1">
                <a:solidFill>
                  <a:srgbClr val="44362D"/>
                </a:solidFill>
              </a:rPr>
              <a:t>个性化盲评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2737AD-8586-4FAD-92AA-F9ED34A4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052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06F61"/>
                </a:solidFill>
              </a:defRPr>
            </a:pPr>
            <a:r>
              <a:rPr sz="1350" b="0">
                <a:solidFill>
                  <a:srgbClr val="806F61"/>
                </a:solidFill>
              </a:rPr>
              <a:t>不同老人数据→不同证据路径与行动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252DE9-B97E-4962-B2CE-6C739B0A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1477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C2F125-CDAB-45AB-98C9-AD239A982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719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7A3E"/>
                </a:solidFill>
              </a:defRPr>
            </a:pPr>
            <a:r>
              <a:rPr sz="1350" b="1">
                <a:solidFill>
                  <a:srgbClr val="D77A3E"/>
                </a:solidFill>
              </a:rPr>
              <a:t>D10–12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C3705A-B20E-4B09-9F0C-E292B252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719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4362D"/>
                </a:solidFill>
              </a:defRPr>
            </a:pPr>
            <a:r>
              <a:rPr sz="1425" b="1">
                <a:solidFill>
                  <a:srgbClr val="44362D"/>
                </a:solidFill>
              </a:rPr>
              <a:t>曲线外部验证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CD65A1-ECEA-4F56-86C6-BAE91720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719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06F61"/>
                </a:solidFill>
              </a:defRPr>
            </a:pPr>
            <a:r>
              <a:rPr sz="1350" b="0">
                <a:solidFill>
                  <a:srgbClr val="806F61"/>
                </a:solidFill>
              </a:rPr>
              <a:t>按老人隔离、真实日期、拒绝预测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1585F9-B2C3-4D07-91DD-53F43FCB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8152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24E7CD-A766-4217-868D-64976881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387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7A3E"/>
                </a:solidFill>
              </a:defRPr>
            </a:pPr>
            <a:r>
              <a:rPr sz="1350" b="1">
                <a:solidFill>
                  <a:srgbClr val="D77A3E"/>
                </a:solidFill>
              </a:rPr>
              <a:t>D13–14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BC0C1E-2EAD-4EE7-9124-510D7255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387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4362D"/>
                </a:solidFill>
              </a:defRPr>
            </a:pPr>
            <a:r>
              <a:rPr sz="1425" b="1">
                <a:solidFill>
                  <a:srgbClr val="44362D"/>
                </a:solidFill>
              </a:rPr>
              <a:t>材料提交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607434-796E-482B-A6D3-A18A5397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38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06F61"/>
                </a:solidFill>
              </a:defRPr>
            </a:pPr>
            <a:r>
              <a:rPr sz="1350" b="0">
                <a:solidFill>
                  <a:srgbClr val="806F61"/>
                </a:solidFill>
              </a:rPr>
              <a:t>PPT、总结书、数据卡、模型卡、演示脚本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097F2B-0088-4FAF-AF08-BFC3BA65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4827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838C9D-85EE-470E-A119-F84A8D42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06F61"/>
                </a:solidFill>
              </a:defRPr>
            </a:pPr>
            <a:r>
              <a:rPr sz="825" b="0">
                <a:solidFill>
                  <a:srgbClr val="806F61"/>
                </a:solidFill>
              </a:rPr>
              <a:t>老年人健康管理智能体  ·  10</a:t>
            </a:r>
          </a:p>
        </p:txBody>
      </p:sp>
    </p:spTree>
    <p:extLst>
      <p:ext uri="{BB962C8B-B14F-4D97-AF65-F5344CB8AC3E}">
        <p14:creationId xmlns:p14="http://schemas.microsoft.com/office/powerpoint/2010/main" val="16783120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4436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D1ECA3-3CC8-42E1-858A-83795BB3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47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3A15D"/>
                </a:solidFill>
              </a:defRPr>
            </a:pPr>
            <a:r>
              <a:rPr sz="1275" b="1">
                <a:solidFill>
                  <a:srgbClr val="F3A15D"/>
                </a:solidFill>
              </a:rPr>
              <a:t>一句话总结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5311BC-D16E-412B-BB17-4EF34C0D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790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让每一次健康记录，</a:t>
            </a:r>
          </a:p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都能回到一个安全、可解释、可执行的行动。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6618AB-A288-4027-98E2-873183E6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BDCCD"/>
                </a:solidFill>
              </a:defRPr>
            </a:pPr>
            <a:r>
              <a:rPr sz="1575" b="0">
                <a:solidFill>
                  <a:srgbClr val="EBDCCD"/>
                </a:solidFill>
              </a:rPr>
              <a:t>Curve V2 解释变化 · 风险模型分层筛查 · GraphRAG 连接证据 · 智能体闭环行动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330597-5D3C-4FF1-9177-A38CC0AD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20955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3A1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EDF3FB-F736-4C68-B9D8-93F4C7138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911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4362D"/>
                </a:solidFill>
              </a:defRPr>
            </a:pPr>
            <a:r>
              <a:rPr sz="1050" b="1">
                <a:solidFill>
                  <a:srgbClr val="44362D"/>
                </a:solidFill>
              </a:rPr>
              <a:t>现场演示：张奶奶账号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01EB6A-DBF0-463D-886F-16543578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6769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F3A15D"/>
                </a:solidFill>
              </a:defRPr>
            </a:pPr>
            <a:r>
              <a:rPr sz="2025" b="1">
                <a:solidFill>
                  <a:srgbClr val="F3A15D"/>
                </a:solidFill>
              </a:rPr>
              <a:t>谢谢</a:t>
            </a:r>
          </a:p>
        </p:txBody>
      </p:sp>
    </p:spTree>
    <p:extLst>
      <p:ext uri="{BB962C8B-B14F-4D97-AF65-F5344CB8AC3E}">
        <p14:creationId xmlns:p14="http://schemas.microsoft.com/office/powerpoint/2010/main" val="10401204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2026-08-21T07:15:21.3170000Z</dcterms:created>
  <dcterms:modified xsi:type="dcterms:W3CDTF">2026-08-21T07:15:21.3170000Z</dcterms:modified>
</coreProperties>
</file>